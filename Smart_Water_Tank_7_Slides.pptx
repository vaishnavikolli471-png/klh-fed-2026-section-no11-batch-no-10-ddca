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70" r:id="rId7"/>
    <p:sldId id="275" r:id="rId8"/>
    <p:sldId id="276" r:id="rId9"/>
    <p:sldId id="27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odern_professional_tech_themed_pres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71800" y="914400"/>
            <a:ext cx="8732520" cy="502920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B4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0" y="1353312"/>
            <a:ext cx="7680960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ctr">
              <a:defRPr sz="1800" b="1">
                <a:solidFill>
                  <a:srgbClr val="0070C0"/>
                </a:solidFill>
                <a:latin typeface="Aptos"/>
              </a:defRPr>
            </a:pPr>
            <a:r>
              <a:t>DESIGN &amp; SIMULATION OF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1755648"/>
            <a:ext cx="7955279" cy="566928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ctr">
              <a:defRPr sz="3400" b="1">
                <a:solidFill>
                  <a:srgbClr val="082D64"/>
                </a:solidFill>
                <a:latin typeface="Aptos"/>
              </a:defRPr>
            </a:pPr>
            <a:r>
              <a:t>SMART WATER TANK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450592"/>
            <a:ext cx="7863840" cy="43891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ctr">
              <a:defRPr sz="2200" b="1">
                <a:solidFill>
                  <a:srgbClr val="082D64"/>
                </a:solidFill>
                <a:latin typeface="Aptos"/>
              </a:defRPr>
            </a:pPr>
            <a:r>
              <a:t>Overflow Protection &amp; Pump Control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3017520"/>
            <a:ext cx="7589520" cy="384048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ctr">
              <a:defRPr sz="2000" b="1">
                <a:solidFill>
                  <a:srgbClr val="00A6DC"/>
                </a:solidFill>
                <a:latin typeface="Aptos"/>
              </a:defRPr>
            </a:pPr>
            <a:r>
              <a:t>Using Combinational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3730752"/>
            <a:ext cx="7132320" cy="329321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ctr">
              <a:defRPr sz="1300" b="0">
                <a:solidFill>
                  <a:srgbClr val="4B6482"/>
                </a:solidFill>
                <a:latin typeface="Aptos"/>
              </a:defRPr>
            </a:pPr>
            <a:r>
              <a:rPr dirty="0">
                <a:solidFill/>
              </a:rPr>
              <a:t>6-module project presentation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133087"/>
            <a:ext cx="7315200" cy="27432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ctr">
              <a:defRPr sz="1300" b="0">
                <a:solidFill>
                  <a:srgbClr val="192D46"/>
                </a:solidFill>
                <a:latin typeface="Aptos"/>
              </a:defRPr>
            </a:pPr>
            <a:r>
              <a:rPr>
                <a:solidFill/>
              </a:rPr>
              <a:t>Course: Digital Design &amp; Computer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370832"/>
            <a:ext cx="7772400" cy="1417320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ctr">
              <a:defRPr sz="1200" b="0">
                <a:solidFill>
                  <a:srgbClr val="192D46"/>
                </a:solidFill>
                <a:latin typeface="Aptos"/>
              </a:defRPr>
            </a:pPr>
            <a:r>
              <a:rPr sz="1200" b="1"/>
              <a:t>TEAM MEMBERS</a:t>
            </a:r>
          </a:p>
          <a:p>
            <a:pPr algn="ctr"/>
            <a:r>
              <a:rPr sz="1100"/>
              <a:t>VAISHNAVI KOLLI – 2620040020  |  SANJANA – 2620040041</a:t>
            </a:r>
          </a:p>
          <a:p>
            <a:pPr algn="ctr"/>
            <a:r>
              <a:rPr sz="1100"/>
              <a:t>SNIGDHA – 2620040042  |  SAI KARTHIKEYA – 2620040024</a:t>
            </a:r>
          </a:p>
          <a:p>
            <a:pPr algn="ctr"/>
            <a:r>
              <a:rPr sz="1100"/>
              <a:t>SISTLA AISHWARYA LAKSHMI – 2620040059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odern_professional_tech_themed_pres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3188" y="-89941"/>
            <a:ext cx="12404883" cy="6977921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46120" y="713232"/>
            <a:ext cx="8458200" cy="553212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B4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47872" y="896112"/>
            <a:ext cx="7772400" cy="50292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>
              <a:defRPr sz="2600" b="1">
                <a:solidFill>
                  <a:srgbClr val="082D64"/>
                </a:solidFill>
                <a:latin typeface="Aptos"/>
              </a:defRPr>
            </a:pPr>
            <a:r>
              <a:t>System Inputs &amp; Design Assumptions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39312" y="1435608"/>
            <a:ext cx="1005840" cy="45720"/>
          </a:xfrm>
          <a:prstGeom prst="rect">
            <a:avLst/>
          </a:prstGeom>
          <a:solidFill>
            <a:srgbClr val="00A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0" y="1024128"/>
            <a:ext cx="1874519" cy="22860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r">
              <a:defRPr sz="900" b="1">
                <a:solidFill>
                  <a:srgbClr val="0070C0"/>
                </a:solidFill>
                <a:latin typeface="Aptos"/>
              </a:defRPr>
            </a:pPr>
            <a:r>
              <a:t>COMBINATIONAL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5961888"/>
            <a:ext cx="960120" cy="1828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r">
              <a:defRPr sz="900" b="0">
                <a:solidFill>
                  <a:srgbClr val="4B6482"/>
                </a:solidFill>
                <a:latin typeface="Aptos"/>
              </a:defRPr>
            </a:pPr>
            <a:r>
              <a:t>05 / 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03320" y="1828800"/>
          <a:ext cx="71323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Symbol</a:t>
                      </a:r>
                    </a:p>
                  </a:txBody>
                  <a:tcPr marL="36576" marR="36576" marT="18288" marB="18288">
                    <a:solidFill>
                      <a:srgbClr val="082D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Input meaning</a:t>
                      </a:r>
                    </a:p>
                  </a:txBody>
                  <a:tcPr marL="36576" marR="36576" marT="18288" marB="18288">
                    <a:solidFill>
                      <a:srgbClr val="082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Logic 1 means</a:t>
                      </a:r>
                    </a:p>
                  </a:txBody>
                  <a:tcPr marL="36576" marR="36576" marT="18288" marB="18288">
                    <a:solidFill>
                      <a:srgbClr val="082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Low-level sensor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Water is at/above the low sensor point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M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Medium-level sensor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Water is at/above the medium point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High-level sensor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High-level limit is reached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P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rPr dirty="0"/>
                        <a:t>Pump output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rPr dirty="0"/>
                        <a:t>1 = ON, 0 = OFF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49039" y="4983480"/>
            <a:ext cx="7406640" cy="59436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>
              <a:defRPr sz="1300" b="0">
                <a:solidFill>
                  <a:srgbClr val="4B6482"/>
                </a:solidFill>
                <a:latin typeface="Aptos"/>
              </a:defRPr>
            </a:pPr>
            <a:r>
              <a:t>Assumption: sensors are ordered vertically (L below M below H). Real hardware needs sensor conditioning and electrical isolation.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odern_professional_tech_themed_pres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46120" y="713232"/>
            <a:ext cx="8458200" cy="553212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B4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47872" y="896112"/>
            <a:ext cx="7772400" cy="50292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>
              <a:defRPr sz="2600" b="1">
                <a:solidFill>
                  <a:srgbClr val="082D64"/>
                </a:solidFill>
                <a:latin typeface="Aptos"/>
              </a:defRPr>
            </a:pPr>
            <a:r>
              <a:t>Water-Level Sensing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39312" y="1435608"/>
            <a:ext cx="1005840" cy="45720"/>
          </a:xfrm>
          <a:prstGeom prst="rect">
            <a:avLst/>
          </a:prstGeom>
          <a:solidFill>
            <a:srgbClr val="00A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0" y="1024128"/>
            <a:ext cx="1874519" cy="22860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r">
              <a:defRPr sz="900" b="1">
                <a:solidFill>
                  <a:srgbClr val="0070C0"/>
                </a:solidFill>
                <a:latin typeface="Aptos"/>
              </a:defRPr>
            </a:pPr>
            <a:r>
              <a:t>COMBINATIONAL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5961888"/>
            <a:ext cx="960120" cy="1828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r">
              <a:defRPr sz="900" b="0">
                <a:solidFill>
                  <a:srgbClr val="4B6482"/>
                </a:solidFill>
                <a:latin typeface="Aptos"/>
              </a:defRPr>
            </a:pPr>
            <a:r>
              <a:t>06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719072"/>
            <a:ext cx="7543800" cy="4069080"/>
          </a:xfrm>
          <a:prstGeom prst="rect">
            <a:avLst/>
          </a:prstGeom>
          <a:noFill/>
        </p:spPr>
        <p:txBody>
          <a:bodyPr wrap="square" tIns="36576" rIns="73152" bIns="36576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  <a:defRPr sz="1700">
                <a:solidFill>
                  <a:srgbClr val="192D46"/>
                </a:solidFill>
                <a:latin typeface="Aptos"/>
              </a:defRPr>
            </a:pPr>
            <a:r>
              <a:t>•  Three digital sensors convert a changing water level into binary signals.</a:t>
            </a:r>
          </a:p>
          <a:p>
            <a:pPr>
              <a:lnSpc>
                <a:spcPct val="104000"/>
              </a:lnSpc>
              <a:spcAft>
                <a:spcPts val="1000"/>
              </a:spcAft>
              <a:defRPr sz="1700">
                <a:solidFill>
                  <a:srgbClr val="192D46"/>
                </a:solidFill>
                <a:latin typeface="Aptos"/>
              </a:defRPr>
            </a:pPr>
            <a:r>
              <a:t>•  L — LOW: indicates the tank has reached the minimum sensor point.</a:t>
            </a:r>
          </a:p>
          <a:p>
            <a:pPr>
              <a:lnSpc>
                <a:spcPct val="104000"/>
              </a:lnSpc>
              <a:spcAft>
                <a:spcPts val="1000"/>
              </a:spcAft>
              <a:defRPr sz="1700">
                <a:solidFill>
                  <a:srgbClr val="192D46"/>
                </a:solidFill>
                <a:latin typeface="Aptos"/>
              </a:defRPr>
            </a:pPr>
            <a:r>
              <a:t>•  M — MEDIUM: provides an intermediate water-level indication.</a:t>
            </a:r>
          </a:p>
          <a:p>
            <a:pPr>
              <a:lnSpc>
                <a:spcPct val="104000"/>
              </a:lnSpc>
              <a:spcAft>
                <a:spcPts val="1000"/>
              </a:spcAft>
              <a:defRPr sz="1700">
                <a:solidFill>
                  <a:srgbClr val="192D46"/>
                </a:solidFill>
                <a:latin typeface="Aptos"/>
              </a:defRPr>
            </a:pPr>
            <a:r>
              <a:t>•  H — HIGH: signals the upper limit; the pump must be OFF.</a:t>
            </a:r>
          </a:p>
          <a:p>
            <a:pPr>
              <a:lnSpc>
                <a:spcPct val="104000"/>
              </a:lnSpc>
              <a:spcAft>
                <a:spcPts val="1000"/>
              </a:spcAft>
              <a:defRPr sz="1700">
                <a:solidFill>
                  <a:srgbClr val="192D46"/>
                </a:solidFill>
                <a:latin typeface="Aptos"/>
              </a:defRPr>
            </a:pPr>
            <a:r>
              <a:t>•  Sensor polarity and exact thresholds must be confirmed for the selected hardware.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odern_professional_tech_themed_pres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46120" y="713232"/>
            <a:ext cx="8458200" cy="553212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B4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47872" y="896112"/>
            <a:ext cx="7772400" cy="50292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>
              <a:defRPr sz="2600" b="1">
                <a:solidFill>
                  <a:srgbClr val="082D64"/>
                </a:solidFill>
                <a:latin typeface="Aptos"/>
              </a:defRPr>
            </a:pPr>
            <a:r>
              <a:t>What Is Combinational Logic?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39312" y="1435608"/>
            <a:ext cx="1005840" cy="45720"/>
          </a:xfrm>
          <a:prstGeom prst="rect">
            <a:avLst/>
          </a:prstGeom>
          <a:solidFill>
            <a:srgbClr val="00A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0" y="1024128"/>
            <a:ext cx="1874519" cy="22860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r">
              <a:defRPr sz="900" b="1">
                <a:solidFill>
                  <a:srgbClr val="0070C0"/>
                </a:solidFill>
                <a:latin typeface="Aptos"/>
              </a:defRPr>
            </a:pPr>
            <a:r>
              <a:t>COMBINATIONAL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5961888"/>
            <a:ext cx="960120" cy="1828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r">
              <a:defRPr sz="900" b="0">
                <a:solidFill>
                  <a:srgbClr val="4B6482"/>
                </a:solidFill>
                <a:latin typeface="Aptos"/>
              </a:defRPr>
            </a:pPr>
            <a:r>
              <a:t>07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423160"/>
            <a:ext cx="146304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>
              <a:defRPr sz="1600" b="1">
                <a:solidFill>
                  <a:srgbClr val="082D64"/>
                </a:solidFill>
                <a:latin typeface="Aptos"/>
              </a:defRPr>
            </a:pPr>
            <a:r>
              <a:t>L, M, H</a:t>
            </a:r>
            <a:br/>
            <a:r>
              <a:t>Inputs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331720"/>
            <a:ext cx="1828800" cy="1005840"/>
          </a:xfrm>
          <a:prstGeom prst="roundRect">
            <a:avLst/>
          </a:prstGeom>
          <a:solidFill>
            <a:srgbClr val="E1F5FF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>
              <a:defRPr sz="1800" b="1">
                <a:solidFill>
                  <a:srgbClr val="082D64"/>
                </a:solidFill>
                <a:latin typeface="Aptos"/>
              </a:defRPr>
            </a:pPr>
            <a:r>
              <a:t>BOOLEAN</a:t>
            </a:r>
            <a:br/>
            <a:r>
              <a:t>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423160"/>
            <a:ext cx="1371600" cy="822960"/>
          </a:xfrm>
          <a:prstGeom prst="roundRect">
            <a:avLst/>
          </a:prstGeom>
          <a:solidFill>
            <a:srgbClr val="DAF8E8"/>
          </a:solidFill>
          <a:ln w="15240">
            <a:solidFill>
              <a:srgbClr val="1C9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>
              <a:defRPr sz="1600" b="1">
                <a:solidFill>
                  <a:srgbClr val="1C9155"/>
                </a:solidFill>
                <a:latin typeface="Aptos"/>
              </a:defRPr>
            </a:pPr>
            <a:r>
              <a:t>P</a:t>
            </a:r>
            <a:br/>
            <a:r>
              <a:t>Output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49240" y="2834640"/>
            <a:ext cx="960120" cy="0"/>
          </a:xfrm>
          <a:prstGeom prst="line">
            <a:avLst/>
          </a:prstGeom>
          <a:ln w="2286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75320" y="2834640"/>
            <a:ext cx="960120" cy="0"/>
          </a:xfrm>
          <a:prstGeom prst="line">
            <a:avLst/>
          </a:prstGeom>
          <a:ln w="2286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703320" y="3886200"/>
            <a:ext cx="7406640" cy="1554480"/>
          </a:xfrm>
          <a:prstGeom prst="rect">
            <a:avLst/>
          </a:prstGeom>
          <a:noFill/>
        </p:spPr>
        <p:txBody>
          <a:bodyPr wrap="square" tIns="36576" rIns="73152" bIns="36576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  <a:defRPr sz="1400">
                <a:solidFill>
                  <a:srgbClr val="192D46"/>
                </a:solidFill>
                <a:latin typeface="Aptos"/>
              </a:defRPr>
            </a:pPr>
            <a:r>
              <a:t>•  The output depends only on the current inputs; no clock or stored state is required.</a:t>
            </a:r>
          </a:p>
          <a:p>
            <a:pPr>
              <a:lnSpc>
                <a:spcPct val="104000"/>
              </a:lnSpc>
              <a:spcAft>
                <a:spcPts val="1000"/>
              </a:spcAft>
              <a:defRPr sz="1400">
                <a:solidFill>
                  <a:srgbClr val="192D46"/>
                </a:solidFill>
                <a:latin typeface="Aptos"/>
              </a:defRPr>
            </a:pPr>
            <a:r>
              <a:t>•  When an input changes, the output updates after a small circuit delay.</a:t>
            </a:r>
          </a:p>
          <a:p>
            <a:pPr>
              <a:lnSpc>
                <a:spcPct val="104000"/>
              </a:lnSpc>
              <a:spcAft>
                <a:spcPts val="1000"/>
              </a:spcAft>
              <a:defRPr sz="1400">
                <a:solidFill>
                  <a:srgbClr val="192D46"/>
                </a:solidFill>
                <a:latin typeface="Aptos"/>
              </a:defRPr>
            </a:pPr>
            <a:r>
              <a:t>•  A practical pump system may add a latch, timer or interlock.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odern_professional_tech_themed_pres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46120" y="713232"/>
            <a:ext cx="8458200" cy="553212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B4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47872" y="896112"/>
            <a:ext cx="7772400" cy="50292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>
              <a:defRPr sz="2600" b="1">
                <a:solidFill>
                  <a:srgbClr val="082D64"/>
                </a:solidFill>
                <a:latin typeface="Aptos"/>
              </a:defRPr>
            </a:pPr>
            <a:r>
              <a:t>Truth Table — Pump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39312" y="1435608"/>
            <a:ext cx="1005840" cy="45720"/>
          </a:xfrm>
          <a:prstGeom prst="rect">
            <a:avLst/>
          </a:prstGeom>
          <a:solidFill>
            <a:srgbClr val="00A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0" y="1024128"/>
            <a:ext cx="1874519" cy="22860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r">
              <a:defRPr sz="900" b="1">
                <a:solidFill>
                  <a:srgbClr val="0070C0"/>
                </a:solidFill>
                <a:latin typeface="Aptos"/>
              </a:defRPr>
            </a:pPr>
            <a:r>
              <a:t>COMBINATIONAL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5961888"/>
            <a:ext cx="960120" cy="1828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r">
              <a:defRPr sz="900" b="0">
                <a:solidFill>
                  <a:srgbClr val="4B6482"/>
                </a:solidFill>
                <a:latin typeface="Aptos"/>
              </a:defRPr>
            </a:pPr>
            <a:r>
              <a:t>08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27632"/>
            <a:ext cx="7315200" cy="32004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>
              <a:defRPr sz="1300" b="0">
                <a:solidFill>
                  <a:srgbClr val="192D46"/>
                </a:solidFill>
                <a:latin typeface="Aptos"/>
              </a:defRPr>
            </a:pPr>
            <a:r>
              <a:t>Chosen rule: pump ON only when the tank is below the low-level point.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703320" y="2011680"/>
          <a:ext cx="694944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</a:t>
                      </a:r>
                    </a:p>
                  </a:txBody>
                  <a:tcPr marL="36576" marR="36576" marT="18288" marB="18288">
                    <a:solidFill>
                      <a:srgbClr val="082D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</a:t>
                      </a:r>
                    </a:p>
                  </a:txBody>
                  <a:tcPr marL="36576" marR="36576" marT="18288" marB="18288">
                    <a:solidFill>
                      <a:srgbClr val="082D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</a:t>
                      </a:r>
                    </a:p>
                  </a:txBody>
                  <a:tcPr marL="36576" marR="36576" marT="18288" marB="18288">
                    <a:solidFill>
                      <a:srgbClr val="082D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</a:t>
                      </a:r>
                    </a:p>
                  </a:txBody>
                  <a:tcPr marL="36576" marR="36576" marT="18288" marB="18288">
                    <a:solidFill>
                      <a:srgbClr val="082D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Interpretation</a:t>
                      </a:r>
                    </a:p>
                  </a:txBody>
                  <a:tcPr marL="36576" marR="36576" marT="18288" marB="18288">
                    <a:solidFill>
                      <a:srgbClr val="082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Below low sensor — fill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Invalid sensor combination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Invalid sensor combination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Invalid sensor combination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Low sensor reached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Invalid sensor combination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Medium level reached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High limit reached</a:t>
                      </a:r>
                    </a:p>
                  </a:txBody>
                  <a:tcPr marL="36576" marR="36576" marT="18288" marB="18288">
                    <a:solidFill>
                      <a:srgbClr val="E5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703320" y="5394960"/>
            <a:ext cx="7315200" cy="43891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>
              <a:defRPr sz="1100" b="0">
                <a:solidFill>
                  <a:srgbClr val="4B6482"/>
                </a:solidFill>
                <a:latin typeface="Aptos"/>
              </a:defRPr>
            </a:pPr>
            <a:r>
              <a:t>This demonstration turns the pump OFF as soon as L becomes 1, so it does not continue filling to the medium level.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odern_professional_tech_themed_pres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46120" y="713232"/>
            <a:ext cx="8458200" cy="553212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B4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47872" y="896112"/>
            <a:ext cx="7772400" cy="529376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>
              <a:defRPr sz="2600" b="1">
                <a:solidFill>
                  <a:srgbClr val="082D64"/>
                </a:solidFill>
                <a:latin typeface="Aptos"/>
              </a:defRPr>
            </a:pPr>
            <a:r>
              <a:rPr dirty="0"/>
              <a:t>Simulation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39312" y="1435608"/>
            <a:ext cx="1005840" cy="45720"/>
          </a:xfrm>
          <a:prstGeom prst="rect">
            <a:avLst/>
          </a:prstGeom>
          <a:solidFill>
            <a:srgbClr val="00A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0" y="1024128"/>
            <a:ext cx="1874519" cy="22860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r">
              <a:defRPr sz="900" b="1">
                <a:solidFill>
                  <a:srgbClr val="0070C0"/>
                </a:solidFill>
                <a:latin typeface="Aptos"/>
              </a:defRPr>
            </a:pPr>
            <a:r>
              <a:t>SIMULATION &amp;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5961888"/>
            <a:ext cx="960120" cy="1828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r">
              <a:defRPr sz="900" b="0">
                <a:solidFill>
                  <a:srgbClr val="4B6482"/>
                </a:solidFill>
                <a:latin typeface="Aptos"/>
              </a:defRPr>
            </a:pPr>
            <a:r>
              <a:t>15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719072"/>
            <a:ext cx="7543800" cy="4069080"/>
          </a:xfrm>
          <a:prstGeom prst="rect">
            <a:avLst/>
          </a:prstGeom>
          <a:noFill/>
        </p:spPr>
        <p:txBody>
          <a:bodyPr wrap="square" tIns="36576" rIns="73152" bIns="36576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  <a:defRPr sz="1700">
                <a:solidFill>
                  <a:srgbClr val="192D46"/>
                </a:solidFill>
                <a:latin typeface="Aptos"/>
              </a:defRPr>
            </a:pPr>
            <a:r>
              <a:t>•  Suggested tools: Logisim Evolution or Digital logic simulator.</a:t>
            </a:r>
          </a:p>
          <a:p>
            <a:pPr>
              <a:lnSpc>
                <a:spcPct val="104000"/>
              </a:lnSpc>
              <a:spcAft>
                <a:spcPts val="1000"/>
              </a:spcAft>
              <a:defRPr sz="1700">
                <a:solidFill>
                  <a:srgbClr val="192D46"/>
                </a:solidFill>
                <a:latin typeface="Aptos"/>
              </a:defRPr>
            </a:pPr>
            <a:r>
              <a:t>•  1. Place three input pins labelled L, M and H.</a:t>
            </a:r>
          </a:p>
          <a:p>
            <a:pPr>
              <a:lnSpc>
                <a:spcPct val="104000"/>
              </a:lnSpc>
              <a:spcAft>
                <a:spcPts val="1000"/>
              </a:spcAft>
              <a:defRPr sz="1700">
                <a:solidFill>
                  <a:srgbClr val="192D46"/>
                </a:solidFill>
                <a:latin typeface="Aptos"/>
              </a:defRPr>
            </a:pPr>
            <a:r>
              <a:t>•  2. Add a 3-input NOR gate or an equivalent gate network.</a:t>
            </a:r>
          </a:p>
          <a:p>
            <a:pPr>
              <a:lnSpc>
                <a:spcPct val="104000"/>
              </a:lnSpc>
              <a:spcAft>
                <a:spcPts val="1000"/>
              </a:spcAft>
              <a:defRPr sz="1700">
                <a:solidFill>
                  <a:srgbClr val="192D46"/>
                </a:solidFill>
                <a:latin typeface="Aptos"/>
              </a:defRPr>
            </a:pPr>
            <a:r>
              <a:t>•  3. Connect P to an output pin or LED indicator.</a:t>
            </a:r>
          </a:p>
          <a:p>
            <a:pPr>
              <a:lnSpc>
                <a:spcPct val="104000"/>
              </a:lnSpc>
              <a:spcAft>
                <a:spcPts val="1000"/>
              </a:spcAft>
              <a:defRPr sz="1700">
                <a:solidFill>
                  <a:srgbClr val="192D46"/>
                </a:solidFill>
                <a:latin typeface="Aptos"/>
              </a:defRPr>
            </a:pPr>
            <a:r>
              <a:t>•  Toggle all eight input combinations, compare each output with the truth table, then save the circuit and capture a screenshot.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odern_professional_tech_themed_pres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71800" y="914400"/>
            <a:ext cx="8732520" cy="502920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B4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29000" y="1371600"/>
            <a:ext cx="7818120" cy="60632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ctr">
              <a:defRPr sz="3100" b="1">
                <a:solidFill>
                  <a:srgbClr val="082D64"/>
                </a:solidFill>
                <a:latin typeface="Aptos"/>
              </a:defRPr>
            </a:pPr>
            <a:r>
              <a:rPr dirty="0"/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2542032"/>
            <a:ext cx="7315200" cy="1691640"/>
          </a:xfrm>
          <a:prstGeom prst="rect">
            <a:avLst/>
          </a:prstGeom>
          <a:noFill/>
        </p:spPr>
        <p:txBody>
          <a:bodyPr wrap="square" tIns="36576" rIns="73152" bIns="36576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  <a:defRPr sz="1400">
                <a:solidFill>
                  <a:srgbClr val="192D46"/>
                </a:solidFill>
                <a:latin typeface="Aptos"/>
              </a:defRPr>
            </a:pPr>
            <a:r>
              <a:rPr lang="en-US" dirty="0"/>
              <a:t>•  Digital sensors represent water level using binary inputs.</a:t>
            </a:r>
          </a:p>
          <a:p>
            <a:pPr>
              <a:lnSpc>
                <a:spcPct val="104000"/>
              </a:lnSpc>
              <a:spcAft>
                <a:spcPts val="1000"/>
              </a:spcAft>
              <a:defRPr sz="1400">
                <a:solidFill>
                  <a:srgbClr val="192D46"/>
                </a:solidFill>
                <a:latin typeface="Aptos"/>
              </a:defRPr>
            </a:pPr>
            <a:r>
              <a:rPr lang="en-US" dirty="0"/>
              <a:t>•  The truth table defines the pump decision clearly.</a:t>
            </a:r>
          </a:p>
          <a:p>
            <a:pPr>
              <a:lnSpc>
                <a:spcPct val="104000"/>
              </a:lnSpc>
              <a:spcAft>
                <a:spcPts val="1000"/>
              </a:spcAft>
              <a:defRPr sz="1400">
                <a:solidFill>
                  <a:srgbClr val="192D46"/>
                </a:solidFill>
                <a:latin typeface="Aptos"/>
              </a:defRPr>
            </a:pPr>
            <a:r>
              <a:rPr lang="en-US" dirty="0"/>
              <a:t>•  P = ¬(L + M + H), implemented by a NOR gate.</a:t>
            </a:r>
          </a:p>
          <a:p>
            <a:pPr>
              <a:lnSpc>
                <a:spcPct val="104000"/>
              </a:lnSpc>
              <a:spcAft>
                <a:spcPts val="1000"/>
              </a:spcAft>
              <a:defRPr sz="1400">
                <a:solidFill>
                  <a:srgbClr val="192D46"/>
                </a:solidFill>
                <a:latin typeface="Aptos"/>
              </a:defRPr>
            </a:pPr>
            <a:r>
              <a:rPr lang="en-US" dirty="0"/>
              <a:t>•  Simulation checks every input combination before hardware implementation.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5193792"/>
            <a:ext cx="7132320" cy="27432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ctr">
              <a:defRPr sz="1300" b="0">
                <a:solidFill>
                  <a:srgbClr val="4B6482"/>
                </a:solidFill>
                <a:latin typeface="Aptos"/>
              </a:defRPr>
            </a:pPr>
            <a:r>
              <a:t>Design • Simulate • Verify • Improve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93CC5C-447C-9B37-6728-B2B148091A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8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722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ofessional Thank You Slide Template | SlideEgg">
            <a:extLst>
              <a:ext uri="{FF2B5EF4-FFF2-40B4-BE49-F238E27FC236}">
                <a16:creationId xmlns:a16="http://schemas.microsoft.com/office/drawing/2014/main" id="{F0C7C618-4AA1-CCDD-7CEF-58CDF04F8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0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525</Words>
  <Application>Microsoft Office PowerPoint</Application>
  <PresentationFormat>Widescreen</PresentationFormat>
  <Paragraphs>110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Simulation of a Smart Water Tank Overflow Protection and Pump Control System Using Combinational Logic</dc:title>
  <dc:subject>Updated 20-slide project presentation using the generated blue technology background</dc:subject>
  <dc:creator>OpenAI</dc:creator>
  <cp:keywords/>
  <dc:description>generated using python-pptx</dc:description>
  <cp:lastModifiedBy>kollivaishnavi49@outlook.com</cp:lastModifiedBy>
  <cp:revision>4</cp:revision>
  <dcterms:created xsi:type="dcterms:W3CDTF">2013-01-27T09:14:16Z</dcterms:created>
  <dcterms:modified xsi:type="dcterms:W3CDTF">2026-10-15T08:03:17Z</dcterms:modified>
  <cp:category/>
</cp:coreProperties>
</file>