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9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82F50"/>
                </a:solidFill>
              </a:rPr>
              <a:t>Sequential Logic Circuits</a:t>
            </a:r>
          </a:p>
          <a:p>
            <a:pPr algn="ctr"/>
            <a:r>
              <a:rPr sz="2900" b="1">
                <a:solidFill>
                  <a:srgbClr val="2B6DB0"/>
                </a:solidFill>
              </a:rPr>
              <a:t>Design and Simulation of a Smart Water Tank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4282" y="3657600"/>
            <a:ext cx="5172955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solidFill>
                  <a:srgbClr val="5A626C"/>
                </a:solidFill>
              </a:rPr>
              <a:t>Remembering &amp; Keeping Time: Sequential Logic</a:t>
            </a:r>
          </a:p>
          <a:p>
            <a:pPr algn="ctr"/>
            <a:r>
              <a:rPr sz="1800" dirty="0">
                <a:solidFill>
                  <a:srgbClr val="23282D"/>
                </a:solidFill>
              </a:rPr>
              <a:t>Presented by:</a:t>
            </a:r>
            <a:r>
              <a:rPr lang="en-IN" sz="1800" dirty="0">
                <a:solidFill>
                  <a:srgbClr val="23282D"/>
                </a:solidFill>
              </a:rPr>
              <a:t> group-10</a:t>
            </a:r>
          </a:p>
          <a:p>
            <a:pPr algn="ctr"/>
            <a:endParaRPr lang="en-IN" sz="1800" dirty="0">
              <a:solidFill>
                <a:srgbClr val="23282D"/>
              </a:solidFill>
            </a:endParaRPr>
          </a:p>
          <a:p>
            <a:pPr algn="ctr"/>
            <a:r>
              <a:rPr sz="1800" dirty="0">
                <a:solidFill>
                  <a:srgbClr val="23282D"/>
                </a:solidFill>
              </a:rPr>
              <a:t>_______________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The Big Idea: Sequential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</a:rPr>
              <a:t>Connecting the smart water tank to the CPU memory-and-stepping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Combinational logic produces outputs from present inputs only.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Sequential logic adds memory: the circuit can remember a previous condition.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A clock lets the system update its state in an organized, repeatable way.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In a smart water tank, the controller remembers whether the tank is LOW, MEDIUM, or FULL.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This same idea is used by CPUs to remember values and step through instructions.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Why Does the Water Tank Need Memory?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017520" cy="105156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Water-level sensors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017520" cy="105156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Sequential controller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017520" cy="105156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Pump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901952"/>
            <a:ext cx="822961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89520" y="1901952"/>
            <a:ext cx="82296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97180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If the tank is LOW, the pump should start filling it.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If the tank is MEDIUM, the controller may keep the pump running.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If the tank becomes FULL, the pump must stop.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The controller therefore needs a stored state, not just a direct sensor-to-pump connection.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System Specification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234440"/>
          <a:ext cx="6583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Input / Element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L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LOW-level sensor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MEDIUM-level sensor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H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HIGH/FULL sensor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CLK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Clock signal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RESET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Initializes controller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PUMP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Pump control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508760"/>
            <a:ext cx="2834640" cy="96012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Goal
Automatic filling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834640"/>
            <a:ext cx="2834640" cy="960120"/>
          </a:xfrm>
          <a:prstGeom prst="roundRect">
            <a:avLst/>
          </a:prstGeom>
          <a:solidFill>
            <a:srgbClr val="F5E5E5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Safety
Stop at FULL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60520"/>
            <a:ext cx="2834640" cy="96012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Memory
Store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Latches and Flip-Flops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108960" cy="109728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SR Latch
Basic memory element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417320"/>
            <a:ext cx="3108960" cy="109728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D Latch
Level-sensitive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17320"/>
            <a:ext cx="3108960" cy="109728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D Flip-Flop
Edge-triggered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965960"/>
            <a:ext cx="777241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1965960"/>
            <a:ext cx="77724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31546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SR latch stores a bit using feedback.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D latch follows the input while enabled and holds it when disabled.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D flip-flop captures D at a clock edge and holds the captured value.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For the smart water tank, D flip-flops are convenient for storing the FSM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Clock and Synchronous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56032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Sensor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371600"/>
            <a:ext cx="256032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Next-State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371600"/>
            <a:ext cx="2560320" cy="9144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D Flip-Flops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1828800"/>
            <a:ext cx="132588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1828800"/>
            <a:ext cx="132588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00600" y="3108960"/>
            <a:ext cx="2560320" cy="914400"/>
          </a:xfrm>
          <a:prstGeom prst="roundRect">
            <a:avLst/>
          </a:prstGeom>
          <a:solidFill>
            <a:srgbClr val="F5F1DA"/>
          </a:solidFill>
          <a:ln w="19050">
            <a:solidFill>
              <a:srgbClr val="E2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3282D"/>
                </a:solidFill>
              </a:rPr>
              <a:t>CLOCK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80760" y="2286000"/>
            <a:ext cx="0" cy="822960"/>
          </a:xfrm>
          <a:prstGeom prst="line">
            <a:avLst/>
          </a:prstGeom>
          <a:ln w="25400">
            <a:solidFill>
              <a:srgbClr val="E2B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4348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All state elements update on a chosen clock edge.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Clocking makes the controller's behavior easier to design and simulate.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Setup time: inputs should be stable before the active edge.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Hold time: inputs should remain stable briefly after the active edge.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Registers: Storing Multi-Bit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19456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DFF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19456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DFF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417320"/>
            <a:ext cx="219456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DFF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219456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DFF 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1874519"/>
            <a:ext cx="2286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32120" y="1874519"/>
            <a:ext cx="2286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55279" y="1874519"/>
            <a:ext cx="2286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3063240"/>
            <a:ext cx="6675120" cy="96012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3282D"/>
                </a:solidFill>
              </a:rPr>
              <a:t>A row of flip-flops forms a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In a CPU, registers store operands, addresses, and intermediate values.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In our project, the state register stores the current water-tank state.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Each flip-flop stores one bit of the 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Shift Registers — Brief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01168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01168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17320"/>
            <a:ext cx="201168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201168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874519"/>
            <a:ext cx="4572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1874519"/>
            <a:ext cx="4572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1874519"/>
            <a:ext cx="4572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10896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A shift register moves stored bits left or right on clock edges.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Useful in serial communication, data transfer, delay lines, and temporary storage.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The smart water tank mainly needs state storage, so a simple register/FSM is sufficient.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Counters and the Program-Counter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2834640" cy="914400"/>
          </a:xfrm>
          <a:prstGeom prst="roundRect">
            <a:avLst/>
          </a:prstGeom>
          <a:solidFill>
            <a:srgbClr val="F5F1DA"/>
          </a:solidFill>
          <a:ln w="19050">
            <a:solidFill>
              <a:srgbClr val="E2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Clock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25880"/>
            <a:ext cx="283464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Synchronous Counter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25880"/>
            <a:ext cx="2834640" cy="9144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Count Value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783080"/>
            <a:ext cx="914401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1783080"/>
            <a:ext cx="914401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0" y="292608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Clock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Counter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0000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0010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0011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0100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288036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</a:defRPr>
            </a:pPr>
            <a:r>
              <a:t>• A synchronous counter changes its stored value on clock edges.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</a:defRPr>
            </a:pPr>
            <a:r>
              <a:t>• A CPU's program counter follows this pattern: it stores which instruction is next.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</a:defRPr>
            </a:pPr>
            <a:r>
              <a:t>• The water-tank controller also advances through defined states one clock at a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Finite State Machine (FSM)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743200" cy="11430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Present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71600"/>
            <a:ext cx="2743200" cy="11430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Next-State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2743200" cy="11430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Next State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1938528"/>
            <a:ext cx="105156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2360" y="1938528"/>
            <a:ext cx="105156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3246120"/>
            <a:ext cx="2743200" cy="914400"/>
          </a:xfrm>
          <a:prstGeom prst="roundRect">
            <a:avLst/>
          </a:prstGeom>
          <a:solidFill>
            <a:srgbClr val="F5F1DA"/>
          </a:solidFill>
          <a:ln w="19050">
            <a:solidFill>
              <a:srgbClr val="E2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3282D"/>
                </a:solidFill>
              </a:rPr>
              <a:t>CLOCK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80760" y="2514600"/>
            <a:ext cx="0" cy="731520"/>
          </a:xfrm>
          <a:prstGeom prst="line">
            <a:avLst/>
          </a:prstGeom>
          <a:ln w="25400">
            <a:solidFill>
              <a:srgbClr val="E2B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5262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An FSM describes step-by-step behavior using states and transitions.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State transitions depend on inputs and the current state.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An FSM is a common way to design the control unit of a digital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Smart Water Tank FSM — State Diagram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2103120" cy="1554480"/>
          </a:xfrm>
          <a:prstGeom prst="ellipse">
            <a:avLst/>
          </a:prstGeom>
          <a:solidFill>
            <a:srgbClr val="EBF4FC"/>
          </a:solidFill>
          <a:ln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82D"/>
                </a:solidFill>
              </a:rPr>
              <a:t>S0</a:t>
            </a:r>
          </a:p>
          <a:p>
            <a:pPr algn="ctr"/>
            <a:r>
              <a:rPr sz="1500" b="1">
                <a:solidFill>
                  <a:srgbClr val="23282D"/>
                </a:solidFill>
              </a:rPr>
              <a:t>LOW</a:t>
            </a:r>
          </a:p>
          <a:p>
            <a:pPr algn="ctr"/>
            <a:r>
              <a:rPr sz="1500" b="1">
                <a:solidFill>
                  <a:srgbClr val="23282D"/>
                </a:solidFill>
              </a:rPr>
              <a:t>Pump ON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2011680"/>
            <a:ext cx="2103120" cy="1554480"/>
          </a:xfrm>
          <a:prstGeom prst="ellipse">
            <a:avLst/>
          </a:prstGeom>
          <a:solidFill>
            <a:srgbClr val="EBF4FC"/>
          </a:solidFill>
          <a:ln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82D"/>
                </a:solidFill>
              </a:rPr>
              <a:t>S1</a:t>
            </a:r>
          </a:p>
          <a:p>
            <a:pPr algn="ctr"/>
            <a:r>
              <a:rPr sz="1500" b="1">
                <a:solidFill>
                  <a:srgbClr val="23282D"/>
                </a:solidFill>
              </a:rPr>
              <a:t>MEDIUM</a:t>
            </a:r>
          </a:p>
          <a:p>
            <a:pPr algn="ctr"/>
            <a:r>
              <a:rPr sz="1500" b="1">
                <a:solidFill>
                  <a:srgbClr val="23282D"/>
                </a:solidFill>
              </a:rPr>
              <a:t>Pump ON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2011680"/>
            <a:ext cx="2103120" cy="1554480"/>
          </a:xfrm>
          <a:prstGeom prst="ellipse">
            <a:avLst/>
          </a:prstGeom>
          <a:solidFill>
            <a:srgbClr val="F5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82D"/>
                </a:solidFill>
              </a:rPr>
              <a:t>S2</a:t>
            </a:r>
          </a:p>
          <a:p>
            <a:pPr algn="ctr"/>
            <a:r>
              <a:rPr sz="1500" b="1">
                <a:solidFill>
                  <a:srgbClr val="23282D"/>
                </a:solidFill>
              </a:rPr>
              <a:t>FULL</a:t>
            </a:r>
          </a:p>
          <a:p>
            <a:pPr algn="ctr"/>
            <a:r>
              <a:rPr sz="1500" b="1">
                <a:solidFill>
                  <a:srgbClr val="23282D"/>
                </a:solidFill>
              </a:rPr>
              <a:t>Pump OFF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788920"/>
            <a:ext cx="155448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2788920"/>
            <a:ext cx="155448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4680" y="1508760"/>
            <a:ext cx="91440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282D"/>
                </a:solidFill>
              </a:rPr>
              <a:t>Rising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508760"/>
            <a:ext cx="109728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282D"/>
                </a:solidFill>
              </a:rPr>
              <a:t>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572000"/>
            <a:ext cx="3566160" cy="73152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82D"/>
                </a:solidFill>
              </a:rPr>
              <a:t>Water decreases → return toward S1/S0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400800" y="3566160"/>
            <a:ext cx="2880360" cy="100584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965960" y="3566160"/>
            <a:ext cx="2606040" cy="100584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FSM State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Present State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Water Condition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Next State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Pump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S0 LOW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S0 / S1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S1 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S1 MEDIUM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Full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S2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ON → OFF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S2 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S2 FULL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Water decreases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S1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82D"/>
                          </a:solidFill>
                        </a:rPr>
                        <a:t>OFF → ON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57784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</a:defRPr>
            </a:pPr>
            <a:r>
              <a:t>• The exact sensor encoding can be adapted to the simulator used.</a:t>
            </a:r>
          </a:p>
          <a:p>
            <a:pPr>
              <a:spcAft>
                <a:spcPts val="1000"/>
              </a:spcAft>
              <a:defRPr sz="1400">
                <a:solidFill>
                  <a:srgbClr val="23282D"/>
                </a:solidFill>
              </a:defRPr>
            </a:pPr>
            <a:r>
              <a:t>• A practical design can add hysteresis so the pump does not chatter around a boundary.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State Encoding with D Flip-Flops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25880"/>
          <a:ext cx="6126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Q0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Pump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FULL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OFF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Unused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82D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417320"/>
            <a:ext cx="320040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Two D flip-flops
store Q1 and Q0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788920"/>
            <a:ext cx="320040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D inputs = next-state
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160520"/>
            <a:ext cx="3200400" cy="9144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Clock edge updates
Q1 Q0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Pump Control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274320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LOW
00 →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274320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MEDIUM
01 →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280160"/>
            <a:ext cx="2743200" cy="914400"/>
          </a:xfrm>
          <a:prstGeom prst="roundRect">
            <a:avLst/>
          </a:prstGeom>
          <a:solidFill>
            <a:srgbClr val="F5E5E5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82D"/>
                </a:solidFill>
              </a:rPr>
              <a:t>FULL
10 → 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926080"/>
            <a:ext cx="6126480" cy="1051560"/>
          </a:xfrm>
          <a:prstGeom prst="roundRect">
            <a:avLst/>
          </a:prstGeom>
          <a:solidFill>
            <a:srgbClr val="F5F1DA"/>
          </a:solidFill>
          <a:ln w="19050">
            <a:solidFill>
              <a:srgbClr val="E2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23282D"/>
                </a:solidFill>
              </a:rPr>
              <a:t>PUMP = Q1′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10149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When Q1 = 0, the stored state is LOW or MEDIUM → pump ON.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When Q1 = 1 for the FULL state → pump OFF.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• The pump output in a real circuit should drive a suitable transistor/relay stage.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Simulation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96596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Sensors
L / M / 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920240"/>
            <a:ext cx="224028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Next-State
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920240"/>
            <a:ext cx="2240280" cy="9144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D Flip-Flops
Q1 Q0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920240"/>
            <a:ext cx="224028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82D"/>
                </a:solidFill>
              </a:rPr>
              <a:t>Pump LED /
Driver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377440"/>
            <a:ext cx="45720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66360" y="2377440"/>
            <a:ext cx="50292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377440"/>
            <a:ext cx="50292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3840480"/>
            <a:ext cx="3200400" cy="822960"/>
          </a:xfrm>
          <a:prstGeom prst="roundRect">
            <a:avLst/>
          </a:prstGeom>
          <a:solidFill>
            <a:srgbClr val="F5F1DA"/>
          </a:solidFill>
          <a:ln w="19050">
            <a:solidFill>
              <a:srgbClr val="E2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3282D"/>
                </a:solidFill>
              </a:rPr>
              <a:t>CLOCK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172200" y="2834640"/>
            <a:ext cx="0" cy="1005840"/>
          </a:xfrm>
          <a:prstGeom prst="line">
            <a:avLst/>
          </a:prstGeom>
          <a:ln w="25400">
            <a:solidFill>
              <a:srgbClr val="E2B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983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Use switches to simulate sensor inputs.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Use LEDs to display state and pump output.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Apply RESET first, then change sensor conditions and observe state transitions at clock edges.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Simulation Sequence / Expected Output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51560"/>
          <a:ext cx="10241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Clock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Water Level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Pump</a:t>
                      </a:r>
                    </a:p>
                  </a:txBody>
                  <a:tcPr anchor="ctr">
                    <a:solidFill>
                      <a:srgbClr val="182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S0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S1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FULL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S2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OFF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S1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S0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82D"/>
                          </a:solidFill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Milestone: Working Sequential-Logic 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9144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1. Working Register
Stores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80160"/>
            <a:ext cx="3291840" cy="9144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2. Counter Pattern
Steps on clock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80160"/>
            <a:ext cx="3291840" cy="914400"/>
          </a:xfrm>
          <a:prstGeom prst="roundRect">
            <a:avLst/>
          </a:prstGeom>
          <a:solidFill>
            <a:srgbClr val="F5F1DA"/>
          </a:solidFill>
          <a:ln w="19050">
            <a:solidFill>
              <a:srgbClr val="E2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3. Working FSM
Controls pump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Register → remembers the tank state.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Clock/counter pattern → provides controlled stepping.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FSM → converts sensor conditions into state transitions.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Together these form the memory-and-stepping fabric behind the automated controller.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074920"/>
            <a:ext cx="6675120" cy="82296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3282D"/>
                </a:solidFill>
              </a:rPr>
              <a:t>Sensors → FSM → Flip-Flops → Pump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Advantages, Applications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474720" cy="68580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Prevents overflow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Reduces wastage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Automatic pump control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Less manual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474720" cy="68580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Homes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Apartments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Hospitals &amp; hotels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Industrial tanks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43000"/>
            <a:ext cx="3474720" cy="685800"/>
          </a:xfrm>
          <a:prstGeom prst="roundRect">
            <a:avLst/>
          </a:prstGeom>
          <a:solidFill>
            <a:srgbClr val="F5E5E5"/>
          </a:solidFill>
          <a:ln w="1905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82D"/>
                </a:solidFill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Sensor faults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Clock-edge response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Driver/isolation needed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</a:defRPr>
            </a:pPr>
            <a:r>
              <a:t>• Placement affects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F50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1051560"/>
          </a:xfrm>
          <a:prstGeom prst="roundRect">
            <a:avLst/>
          </a:prstGeom>
          <a:solidFill>
            <a:srgbClr val="DEEFE7"/>
          </a:solidFill>
          <a:ln w="19050">
            <a:solidFill>
              <a:srgbClr val="368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3282D"/>
                </a:solidFill>
              </a:rPr>
              <a:t>Smart Water Tank = Sensors + Memory + Clock + FSM + Pump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149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Sequential logic allows the system to remember its current water-level state.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D flip-flops store the state, while logic determines the next state.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The clock provides organized state transitions.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• The FSM approach connects directly to how digital control units step through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5166360"/>
            <a:ext cx="5943600" cy="777240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2B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3282D"/>
                </a:solidFill>
              </a:rPr>
              <a:t>Monitor → Remember → Decide →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2500">
                <a:solidFill>
                  <a:srgbClr val="FFFFFF"/>
                </a:solidFill>
              </a:rPr>
              <a:t>Questions?</a:t>
            </a:r>
          </a:p>
          <a:p>
            <a:pPr algn="ctr"/>
            <a:r>
              <a:rPr sz="1800">
                <a:solidFill>
                  <a:srgbClr val="D2E1F0"/>
                </a:solidFill>
              </a:rPr>
              <a:t>Design and Simulation of a Smart Water Tank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1134</Words>
  <Application>Microsoft Office PowerPoint</Application>
  <PresentationFormat>Widescreen</PresentationFormat>
  <Paragraphs>273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Ambala Shishir</cp:lastModifiedBy>
  <cp:revision>2</cp:revision>
  <dcterms:created xsi:type="dcterms:W3CDTF">2013-01-27T09:14:16Z</dcterms:created>
  <dcterms:modified xsi:type="dcterms:W3CDTF">2026-10-01T03:31:15Z</dcterms:modified>
  <cp:category/>
</cp:coreProperties>
</file>